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5033" autoAdjust="0"/>
  </p:normalViewPr>
  <p:slideViewPr>
    <p:cSldViewPr snapToGrid="0" snapToObjects="1">
      <p:cViewPr varScale="1">
        <p:scale>
          <a:sx n="78" d="100"/>
          <a:sy n="78" d="100"/>
        </p:scale>
        <p:origin x="389"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8/18/2026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18-08-2026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18-08-2026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18-08-2026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18-08-2026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18-08-2026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18-08-2026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18-08-2026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18-08-2026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18-08-2026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18-08-2026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18-08-2026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18-08-2026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18-08-2026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18-08-2026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18-08-2026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18-08-2026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18-08-2026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18-08-2026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b="1" dirty="0">
                <a:solidFill>
                  <a:srgbClr val="011893"/>
                </a:solidFill>
                <a:latin typeface="+mn-lt"/>
                <a:cs typeface="Arial" panose="020B0604020202020204" pitchFamily="34" charset="0"/>
              </a:rPr>
              <a:t>Distributed Video Anomaly Detection in Large-Scale Surveillance Systems Using HDFS and Cluster-Visualized Federated CNN–LSTM Models</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a:t>
            </a:r>
            <a:r>
              <a:rPr lang="en-US" sz="2400" dirty="0" err="1">
                <a:solidFill>
                  <a:srgbClr val="00B050"/>
                </a:solidFill>
              </a:rPr>
              <a:t>Subbarayudu</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597486320"/>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Anthony Nissy</a:t>
                      </a:r>
                    </a:p>
                  </a:txBody>
                  <a:tcPr/>
                </a:tc>
                <a:tc>
                  <a:txBody>
                    <a:bodyPr/>
                    <a:lstStyle/>
                    <a:p>
                      <a:r>
                        <a:rPr lang="en-US" dirty="0"/>
                        <a:t>2520030064</a:t>
                      </a:r>
                    </a:p>
                  </a:txBody>
                  <a:tcPr/>
                </a:tc>
                <a:extLst>
                  <a:ext uri="{0D108BD9-81ED-4DB2-BD59-A6C34878D82A}">
                    <a16:rowId xmlns:a16="http://schemas.microsoft.com/office/drawing/2014/main" val="253518174"/>
                  </a:ext>
                </a:extLst>
              </a:tr>
              <a:tr h="370840">
                <a:tc>
                  <a:txBody>
                    <a:bodyPr/>
                    <a:lstStyle/>
                    <a:p>
                      <a:r>
                        <a:rPr lang="en-US" dirty="0"/>
                        <a:t>P. Anuradha Nandini</a:t>
                      </a:r>
                    </a:p>
                  </a:txBody>
                  <a:tcPr/>
                </a:tc>
                <a:tc>
                  <a:txBody>
                    <a:bodyPr/>
                    <a:lstStyle/>
                    <a:p>
                      <a:r>
                        <a:rPr lang="en-US" dirty="0"/>
                        <a:t>2520030171</a:t>
                      </a:r>
                    </a:p>
                  </a:txBody>
                  <a:tcPr/>
                </a:tc>
                <a:extLst>
                  <a:ext uri="{0D108BD9-81ED-4DB2-BD59-A6C34878D82A}">
                    <a16:rowId xmlns:a16="http://schemas.microsoft.com/office/drawing/2014/main" val="2413438055"/>
                  </a:ext>
                </a:extLst>
              </a:tr>
              <a:tr h="370840">
                <a:tc>
                  <a:txBody>
                    <a:bodyPr/>
                    <a:lstStyle/>
                    <a:p>
                      <a:r>
                        <a:rPr lang="en-US" dirty="0"/>
                        <a:t>K. Shashank Reddy</a:t>
                      </a:r>
                    </a:p>
                  </a:txBody>
                  <a:tcPr/>
                </a:tc>
                <a:tc>
                  <a:txBody>
                    <a:bodyPr/>
                    <a:lstStyle/>
                    <a:p>
                      <a:r>
                        <a:rPr lang="en-US" dirty="0"/>
                        <a:t>2520030215</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3204337882"/>
              </p:ext>
            </p:extLst>
          </p:nvPr>
        </p:nvGraphicFramePr>
        <p:xfrm>
          <a:off x="838199" y="1645175"/>
          <a:ext cx="10515600" cy="3567649"/>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Anthony Nissy- 2520030064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P. Anuradha Nandini- 2520030171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 Shashank Reddy - 2520030215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p:txBody>
          <a:bodyPr>
            <a:noAutofit/>
          </a:bodyPr>
          <a:lstStyle/>
          <a:p>
            <a:pPr marL="0" indent="0">
              <a:buNone/>
            </a:pPr>
            <a:br>
              <a:rPr lang="en-IN" sz="1400" dirty="0"/>
            </a:br>
            <a:r>
              <a:rPr lang="en-IN" sz="1400" dirty="0"/>
              <a:t>This project presents the design and development of a </a:t>
            </a:r>
            <a:r>
              <a:rPr lang="en-IN" sz="1400" b="1" dirty="0"/>
              <a:t>Generative AI Assistant and Knowledge Base for Pharmaceuticals</a:t>
            </a:r>
            <a:r>
              <a:rPr lang="en-IN" sz="1400" dirty="0"/>
              <a:t>, a full-stack, microservices-based system that combines large language model (LLM) capabilities with structured and unstructured pharmaceutical data to deliver accurate, context-aware responses to queries related to drug information, interactions, dosage guidelines, and regulatory documentation.</a:t>
            </a:r>
            <a:br>
              <a:rPr lang="en-IN" sz="1400" dirty="0"/>
            </a:br>
            <a:r>
              <a:rPr lang="en-IN" sz="1400" dirty="0"/>
              <a:t>The system employs a </a:t>
            </a:r>
            <a:r>
              <a:rPr lang="en-IN" sz="1400" b="1" dirty="0"/>
              <a:t>polyglot persistence architecture</a:t>
            </a:r>
            <a:r>
              <a:rPr lang="en-IN" sz="1400" dirty="0"/>
              <a:t>: a normalised relational database (PostgreSQL) stores structured entities such as drugs, manufacturers, prescriptions, and user records with optimised SQL queries and transactional integrity; a NoSQL document store (MongoDB) manages semi-structured data such as drug leaflets, clinical notes, and FAQs; and a </a:t>
            </a:r>
            <a:r>
              <a:rPr lang="en-IN" sz="1400" b="1" dirty="0"/>
              <a:t>vector database (</a:t>
            </a:r>
            <a:r>
              <a:rPr lang="en-IN" sz="1400" b="1" dirty="0" err="1"/>
              <a:t>pgvector</a:t>
            </a:r>
            <a:r>
              <a:rPr lang="en-IN" sz="1400" b="1" dirty="0"/>
              <a:t>)</a:t>
            </a:r>
            <a:r>
              <a:rPr lang="en-IN" sz="1400" dirty="0"/>
              <a:t> enables semantic search and retrieval-augmented generation (RAG) by storing embeddings of pharmaceutical literature, allowing the AI assistant to retrieve contextually relevant knowledge before generating responses.</a:t>
            </a:r>
            <a:br>
              <a:rPr lang="en-IN" sz="1400" dirty="0"/>
            </a:br>
            <a:r>
              <a:rPr lang="en-IN" sz="1400" dirty="0"/>
              <a:t>The backend is architected as a set of independently deployable </a:t>
            </a:r>
            <a:r>
              <a:rPr lang="en-IN" sz="1400" b="1" dirty="0"/>
              <a:t>microservices</a:t>
            </a:r>
            <a:r>
              <a:rPr lang="en-IN" sz="1400" dirty="0"/>
              <a:t>, built using </a:t>
            </a:r>
            <a:r>
              <a:rPr lang="en-IN" sz="1400" b="1" dirty="0" err="1"/>
              <a:t>FastAPI</a:t>
            </a:r>
            <a:r>
              <a:rPr lang="en-IN" sz="1400" dirty="0"/>
              <a:t> (with </a:t>
            </a:r>
            <a:r>
              <a:rPr lang="en-IN" sz="1400" dirty="0" err="1"/>
              <a:t>Pydantic</a:t>
            </a:r>
            <a:r>
              <a:rPr lang="en-IN" sz="1400" dirty="0"/>
              <a:t> validation, JWT-based authentication, dependency injection, and </a:t>
            </a:r>
            <a:r>
              <a:rPr lang="en-IN" sz="1400" dirty="0" err="1"/>
              <a:t>OpenAPI</a:t>
            </a:r>
            <a:r>
              <a:rPr lang="en-IN" sz="1400" dirty="0"/>
              <a:t> documentation) for the AI/RAG and query-processing services, and </a:t>
            </a:r>
            <a:r>
              <a:rPr lang="en-IN" sz="1400" b="1" dirty="0"/>
              <a:t>Node.js/Express</a:t>
            </a:r>
            <a:r>
              <a:rPr lang="en-IN" sz="1400" dirty="0"/>
              <a:t> or </a:t>
            </a:r>
            <a:r>
              <a:rPr lang="en-IN" sz="1400" b="1" dirty="0"/>
              <a:t>Spring Boot</a:t>
            </a:r>
            <a:r>
              <a:rPr lang="en-IN" sz="1400" dirty="0"/>
              <a:t> for supporting services such as user management, </a:t>
            </a:r>
            <a:r>
              <a:rPr lang="en-IN" sz="1400" dirty="0" err="1"/>
              <a:t>catalog</a:t>
            </a:r>
            <a:r>
              <a:rPr lang="en-IN" sz="1400" dirty="0"/>
              <a:t> management, and notification handling. Services communicate via REST APIs and asynchronous messaging (Kafka), decoupling the system into bounded contexts such as authentication, knowledge retrieval, chat/inference, and admin management, evolving from an initial monolithic prototype into a microservices architecture through systematic decomposition.</a:t>
            </a:r>
            <a:br>
              <a:rPr lang="en-IN" sz="1400" dirty="0"/>
            </a:br>
            <a:r>
              <a:rPr lang="en-IN" sz="1400" dirty="0"/>
              <a:t>The complete system is </a:t>
            </a:r>
            <a:r>
              <a:rPr lang="en-IN" sz="1400" b="1" dirty="0"/>
              <a:t>containerised using Docker</a:t>
            </a:r>
            <a:r>
              <a:rPr lang="en-IN" sz="1400" dirty="0"/>
              <a:t>, orchestrated for local and cloud deployment, and supported by a CI/CD pipeline for automated testing and deployment. System design is documented using the </a:t>
            </a:r>
            <a:r>
              <a:rPr lang="en-IN" sz="1400" b="1" dirty="0"/>
              <a:t>C4 model</a:t>
            </a:r>
            <a:r>
              <a:rPr lang="en-IN" sz="1400" dirty="0"/>
              <a:t> to capture context, container, component, and code-level views, ensuring maintainability and clarity for future development.</a:t>
            </a:r>
            <a:br>
              <a:rPr lang="en-IN" sz="1400" dirty="0"/>
            </a:br>
            <a:r>
              <a:rPr lang="en-IN" sz="1400" dirty="0"/>
              <a:t>The final deliverable is a live, demonstrable full-stack application where a frontend interface connects to all backend microservices, allowing pharmacists, clinicians, or patients to query a generative AI assistant that grounds its answers in a verified, continuously updatable pharmaceutical knowledge base — reducing the risk of hallucinated medical information while improving accessibility to reliable drug-related knowledge.</a:t>
            </a:r>
            <a:endParaRPr lang="en-US" sz="1400"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normAutofit fontScale="70000" lnSpcReduction="20000"/>
          </a:bodyPr>
          <a:lstStyle/>
          <a:p>
            <a:pPr marL="0" indent="0">
              <a:buNone/>
            </a:pPr>
            <a:br>
              <a:rPr lang="en-IN" dirty="0"/>
            </a:br>
            <a:r>
              <a:rPr lang="en-IN" dirty="0"/>
              <a:t>The pharmaceutical industry contains a large amount of complex and continuously changing information about medicines, dosage guidelines, drug interactions, side effects, and clinical documentation. Finding the right information quickly and understanding it correctly can be difficult using traditional search systems.</a:t>
            </a:r>
            <a:br>
              <a:rPr lang="en-IN" dirty="0"/>
            </a:br>
            <a:r>
              <a:rPr lang="en-IN" dirty="0"/>
              <a:t>This project, </a:t>
            </a:r>
            <a:r>
              <a:rPr lang="en-IN" b="1" dirty="0"/>
              <a:t>“Generative AI Assistant and Knowledge Base for Pharmaceuticals,”</a:t>
            </a:r>
            <a:r>
              <a:rPr lang="en-IN" dirty="0"/>
              <a:t> aims to develop an intelligent assistant that can understand natural-language queries and provide relevant pharmaceutical information. The system combines </a:t>
            </a:r>
            <a:r>
              <a:rPr lang="en-IN" b="1" dirty="0"/>
              <a:t>Generative AI with a verified knowledge base</a:t>
            </a:r>
            <a:r>
              <a:rPr lang="en-IN" dirty="0"/>
              <a:t> to improve the reliability and usefulness of its responses.</a:t>
            </a:r>
            <a:br>
              <a:rPr lang="en-IN" dirty="0"/>
            </a:br>
            <a:r>
              <a:rPr lang="en-IN" dirty="0"/>
              <a:t>The project uses </a:t>
            </a:r>
            <a:r>
              <a:rPr lang="en-IN" b="1" dirty="0"/>
              <a:t>SQL and NoSQL databases</a:t>
            </a:r>
            <a:r>
              <a:rPr lang="en-IN" dirty="0"/>
              <a:t> to store structured and semi-structured pharmaceutical data, while a </a:t>
            </a:r>
            <a:r>
              <a:rPr lang="en-IN" b="1" dirty="0"/>
              <a:t>vector database</a:t>
            </a:r>
            <a:r>
              <a:rPr lang="en-IN" dirty="0"/>
              <a:t> supports semantic search and </a:t>
            </a:r>
            <a:r>
              <a:rPr lang="en-IN" b="1" dirty="0"/>
              <a:t>Retrieval-Augmented Generation (RAG)</a:t>
            </a:r>
            <a:r>
              <a:rPr lang="en-IN" dirty="0"/>
              <a:t>. This allows the AI to retrieve relevant information from the knowledge base before generating an answer, helping to reduce unsupported or inaccurate responses.</a:t>
            </a:r>
            <a:br>
              <a:rPr lang="en-IN" dirty="0"/>
            </a:br>
            <a:r>
              <a:rPr lang="en-IN" dirty="0"/>
              <a:t>The application is developed using </a:t>
            </a:r>
            <a:r>
              <a:rPr lang="en-IN" b="1" dirty="0"/>
              <a:t>REST APIs and microservices</a:t>
            </a:r>
            <a:r>
              <a:rPr lang="en-IN" dirty="0"/>
              <a:t>, with technologies such as </a:t>
            </a:r>
            <a:r>
              <a:rPr lang="en-IN" dirty="0" err="1"/>
              <a:t>FastAPI</a:t>
            </a:r>
            <a:r>
              <a:rPr lang="en-IN" dirty="0"/>
              <a:t>, Node.js/Express, and Spring Boot. </a:t>
            </a:r>
            <a:r>
              <a:rPr lang="en-IN" b="1" dirty="0"/>
              <a:t>Kafka</a:t>
            </a:r>
            <a:r>
              <a:rPr lang="en-IN" dirty="0"/>
              <a:t> can be used for asynchronous communication between services, while </a:t>
            </a:r>
            <a:r>
              <a:rPr lang="en-IN" b="1" dirty="0"/>
              <a:t>Docker and CI/CD</a:t>
            </a:r>
            <a:r>
              <a:rPr lang="en-IN" dirty="0"/>
              <a:t> support containerization, testing, and deployment. Overall, the project demonstrates the practical integration of </a:t>
            </a:r>
            <a:r>
              <a:rPr lang="en-IN" b="1" dirty="0"/>
              <a:t>Generative AI, databases, semantic search, microservices, APIs, and modern deployment technologies</a:t>
            </a:r>
            <a:r>
              <a:rPr lang="en-IN" dirty="0"/>
              <a:t> to build a scalable pharmaceutical information assistant.</a:t>
            </a:r>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fontScale="77500" lnSpcReduction="20000"/>
          </a:bodyPr>
          <a:lstStyle/>
          <a:p>
            <a:pPr marL="0" indent="0">
              <a:buNone/>
            </a:pPr>
            <a:r>
              <a:rPr lang="en-IN" b="1" dirty="0"/>
              <a:t>Existing System</a:t>
            </a:r>
            <a:br>
              <a:rPr lang="en-IN" dirty="0"/>
            </a:br>
            <a:r>
              <a:rPr lang="en-IN" dirty="0"/>
              <a:t>- Uses </a:t>
            </a:r>
            <a:r>
              <a:rPr lang="en-IN" b="1" dirty="0"/>
              <a:t>traditional pharmaceutical databases</a:t>
            </a:r>
            <a:r>
              <a:rPr lang="en-IN" dirty="0"/>
              <a:t> to store medicine and drug-related information.</a:t>
            </a:r>
            <a:br>
              <a:rPr lang="en-IN" dirty="0"/>
            </a:br>
            <a:r>
              <a:rPr lang="en-IN" dirty="0"/>
              <a:t>- Provides information about </a:t>
            </a:r>
            <a:r>
              <a:rPr lang="en-IN" b="1" dirty="0"/>
              <a:t>medicines, dosage, side effects, and drug interactions</a:t>
            </a:r>
            <a:r>
              <a:rPr lang="en-IN" dirty="0"/>
              <a:t>.</a:t>
            </a:r>
            <a:br>
              <a:rPr lang="en-IN" dirty="0"/>
            </a:br>
            <a:r>
              <a:rPr lang="en-IN" dirty="0"/>
              <a:t>- Mainly depends on </a:t>
            </a:r>
            <a:r>
              <a:rPr lang="en-IN" b="1" dirty="0"/>
              <a:t>keyword-based search</a:t>
            </a:r>
            <a:r>
              <a:rPr lang="en-IN" dirty="0"/>
              <a:t> for retrieving information.</a:t>
            </a:r>
            <a:br>
              <a:rPr lang="en-IN" dirty="0"/>
            </a:br>
            <a:r>
              <a:rPr lang="en-IN" dirty="0"/>
              <a:t>- Uses </a:t>
            </a:r>
            <a:r>
              <a:rPr lang="en-IN" b="1" dirty="0"/>
              <a:t>predefined chatbots or basic AI systems</a:t>
            </a:r>
            <a:r>
              <a:rPr lang="en-IN" dirty="0"/>
              <a:t> for answering common queries.</a:t>
            </a:r>
            <a:br>
              <a:rPr lang="en-IN" dirty="0"/>
            </a:br>
            <a:r>
              <a:rPr lang="en-IN" dirty="0"/>
              <a:t>- Often relies on </a:t>
            </a:r>
            <a:r>
              <a:rPr lang="en-IN" b="1" dirty="0"/>
              <a:t>single or limited data sources</a:t>
            </a:r>
            <a:r>
              <a:rPr lang="en-IN" dirty="0"/>
              <a:t>.</a:t>
            </a:r>
            <a:br>
              <a:rPr lang="en-IN" dirty="0"/>
            </a:br>
            <a:r>
              <a:rPr lang="en-IN" dirty="0"/>
              <a:t>- Has limited ability to understand the </a:t>
            </a:r>
            <a:r>
              <a:rPr lang="en-IN" b="1" dirty="0"/>
              <a:t>context and meaning of natural-language queries</a:t>
            </a:r>
            <a:r>
              <a:rPr lang="en-IN" dirty="0"/>
              <a:t>.</a:t>
            </a:r>
            <a:br>
              <a:rPr lang="en-IN" dirty="0"/>
            </a:br>
            <a:r>
              <a:rPr lang="en-IN" dirty="0"/>
              <a:t>- Traditional systems generally do not combine </a:t>
            </a:r>
            <a:r>
              <a:rPr lang="en-IN" b="1" dirty="0"/>
              <a:t>SQL, NoSQL, and vector databases</a:t>
            </a:r>
            <a:r>
              <a:rPr lang="en-IN" dirty="0"/>
              <a:t>.</a:t>
            </a:r>
            <a:br>
              <a:rPr lang="en-IN" dirty="0"/>
            </a:br>
            <a:r>
              <a:rPr lang="en-IN" dirty="0"/>
              <a:t>- Limited use of </a:t>
            </a:r>
            <a:r>
              <a:rPr lang="en-IN" b="1" dirty="0"/>
              <a:t>semantic search and Retrieval-Augmented Generation (RAG)</a:t>
            </a:r>
            <a:r>
              <a:rPr lang="en-IN" dirty="0"/>
              <a:t>.</a:t>
            </a:r>
            <a:br>
              <a:rPr lang="en-IN" dirty="0"/>
            </a:br>
            <a:r>
              <a:rPr lang="en-IN" dirty="0"/>
              <a:t>- Many systems are developed as </a:t>
            </a:r>
            <a:r>
              <a:rPr lang="en-IN" b="1" dirty="0"/>
              <a:t>monolithic applications</a:t>
            </a:r>
            <a:r>
              <a:rPr lang="en-IN" dirty="0"/>
              <a:t>, making scalability and maintenance difficult.</a:t>
            </a:r>
            <a:br>
              <a:rPr lang="en-IN" dirty="0"/>
            </a:br>
            <a:r>
              <a:rPr lang="en-IN" dirty="0"/>
              <a:t>- AI systems without a verified knowledge base may produce </a:t>
            </a:r>
            <a:r>
              <a:rPr lang="en-IN" b="1" dirty="0"/>
              <a:t>inaccurate or unsupported information</a:t>
            </a:r>
            <a:r>
              <a:rPr lang="en-IN" dirty="0"/>
              <a:t>.</a:t>
            </a:r>
            <a:br>
              <a:rPr lang="en-IN" dirty="0"/>
            </a:br>
            <a:r>
              <a:rPr lang="en-IN" dirty="0"/>
              <a:t>- Limited integration of </a:t>
            </a:r>
            <a:r>
              <a:rPr lang="en-IN" b="1" dirty="0"/>
              <a:t>microservices, Kafka, Docker, and CI/CD</a:t>
            </a:r>
            <a:r>
              <a:rPr lang="en-IN" dirty="0"/>
              <a:t>.</a:t>
            </a:r>
            <a:br>
              <a:rPr lang="en-IN" dirty="0"/>
            </a:br>
            <a:r>
              <a:rPr lang="en-IN" dirty="0"/>
              <a:t>- Therefore, existing systems lack a </a:t>
            </a:r>
            <a:r>
              <a:rPr lang="en-IN" b="1" dirty="0"/>
              <a:t>unified, scalable, and knowledge-grounded Generative AI solution</a:t>
            </a:r>
            <a:r>
              <a:rPr lang="en-IN" dirty="0"/>
              <a:t> for pharmaceutical information.</a:t>
            </a:r>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normAutofit fontScale="77500" lnSpcReduction="20000"/>
          </a:bodyPr>
          <a:lstStyle/>
          <a:p>
            <a:pPr marL="0" indent="0">
              <a:buNone/>
            </a:pPr>
            <a:br>
              <a:rPr lang="en-IN" dirty="0"/>
            </a:br>
            <a:r>
              <a:rPr lang="en-IN" dirty="0"/>
              <a:t>-  </a:t>
            </a:r>
            <a:r>
              <a:rPr lang="en-IN" b="1" dirty="0"/>
              <a:t>Keyword-based search</a:t>
            </a:r>
            <a:r>
              <a:rPr lang="en-IN" dirty="0"/>
              <a:t> may fail to understand the actual meaning and context of user queries.</a:t>
            </a:r>
            <a:br>
              <a:rPr lang="en-IN" dirty="0"/>
            </a:br>
            <a:r>
              <a:rPr lang="en-IN" dirty="0"/>
              <a:t>-  Pharmaceutical information is often </a:t>
            </a:r>
            <a:r>
              <a:rPr lang="en-IN" b="1" dirty="0"/>
              <a:t>scattered across different sources</a:t>
            </a:r>
            <a:r>
              <a:rPr lang="en-IN" dirty="0"/>
              <a:t>.</a:t>
            </a:r>
            <a:br>
              <a:rPr lang="en-IN" dirty="0"/>
            </a:br>
            <a:r>
              <a:rPr lang="en-IN" dirty="0"/>
              <a:t>-  Existing systems may have difficulty handling both </a:t>
            </a:r>
            <a:r>
              <a:rPr lang="en-IN" b="1" dirty="0"/>
              <a:t>structured and unstructured data</a:t>
            </a:r>
            <a:r>
              <a:rPr lang="en-IN" dirty="0"/>
              <a:t>.</a:t>
            </a:r>
            <a:br>
              <a:rPr lang="en-IN" dirty="0"/>
            </a:br>
            <a:r>
              <a:rPr lang="en-IN" dirty="0"/>
              <a:t>-  Traditional systems provide </a:t>
            </a:r>
            <a:r>
              <a:rPr lang="en-IN" b="1" dirty="0"/>
              <a:t>limited personalized and context-aware responses</a:t>
            </a:r>
            <a:r>
              <a:rPr lang="en-IN" dirty="0"/>
              <a:t>.</a:t>
            </a:r>
            <a:br>
              <a:rPr lang="en-IN" dirty="0"/>
            </a:br>
            <a:r>
              <a:rPr lang="en-IN" dirty="0"/>
              <a:t>-  Predefined chatbots cannot effectively answer </a:t>
            </a:r>
            <a:r>
              <a:rPr lang="en-IN" b="1" dirty="0"/>
              <a:t>new or complex pharmaceutical queries</a:t>
            </a:r>
            <a:r>
              <a:rPr lang="en-IN" dirty="0"/>
              <a:t>.</a:t>
            </a:r>
            <a:br>
              <a:rPr lang="en-IN" dirty="0"/>
            </a:br>
            <a:r>
              <a:rPr lang="en-IN" dirty="0"/>
              <a:t>-  General AI systems can generate </a:t>
            </a:r>
            <a:r>
              <a:rPr lang="en-IN" b="1" dirty="0"/>
              <a:t>incorrect or hallucinated information</a:t>
            </a:r>
            <a:r>
              <a:rPr lang="en-IN" dirty="0"/>
              <a:t> without a reliable knowledge base.</a:t>
            </a:r>
            <a:br>
              <a:rPr lang="en-IN" dirty="0"/>
            </a:br>
            <a:r>
              <a:rPr lang="en-IN" dirty="0"/>
              <a:t>-  Lack of </a:t>
            </a:r>
            <a:r>
              <a:rPr lang="en-IN" b="1" dirty="0"/>
              <a:t>semantic search</a:t>
            </a:r>
            <a:r>
              <a:rPr lang="en-IN" dirty="0"/>
              <a:t> can result in irrelevant information being retrieved.</a:t>
            </a:r>
            <a:br>
              <a:rPr lang="en-IN" dirty="0"/>
            </a:br>
            <a:r>
              <a:rPr lang="en-IN" dirty="0"/>
              <a:t>-  Many systems have limited integration of </a:t>
            </a:r>
            <a:r>
              <a:rPr lang="en-IN" b="1" dirty="0"/>
              <a:t>SQL, NoSQL, and vector databases</a:t>
            </a:r>
            <a:r>
              <a:rPr lang="en-IN" dirty="0"/>
              <a:t>.</a:t>
            </a:r>
            <a:br>
              <a:rPr lang="en-IN" dirty="0"/>
            </a:br>
            <a:r>
              <a:rPr lang="en-IN" dirty="0"/>
              <a:t>-  </a:t>
            </a:r>
            <a:r>
              <a:rPr lang="en-IN" b="1" dirty="0"/>
              <a:t>Monolithic architectures</a:t>
            </a:r>
            <a:r>
              <a:rPr lang="en-IN" dirty="0"/>
              <a:t> can make the system difficult to scale and maintain.</a:t>
            </a:r>
            <a:br>
              <a:rPr lang="en-IN" dirty="0"/>
            </a:br>
            <a:r>
              <a:rPr lang="en-IN" dirty="0"/>
              <a:t>-  Limited use of </a:t>
            </a:r>
            <a:r>
              <a:rPr lang="en-IN" b="1" dirty="0"/>
              <a:t>microservices and asynchronous communication</a:t>
            </a:r>
            <a:r>
              <a:rPr lang="en-IN" dirty="0"/>
              <a:t> reduces flexibility.</a:t>
            </a:r>
            <a:br>
              <a:rPr lang="en-IN" dirty="0"/>
            </a:br>
            <a:r>
              <a:rPr lang="en-IN" dirty="0"/>
              <a:t>-  Manual deployment and testing can make system updates </a:t>
            </a:r>
            <a:r>
              <a:rPr lang="en-IN" b="1" dirty="0"/>
              <a:t>time-consuming and error-prone</a:t>
            </a:r>
            <a:r>
              <a:rPr lang="en-IN" dirty="0"/>
              <a:t>.</a:t>
            </a:r>
            <a:br>
              <a:rPr lang="en-IN" dirty="0"/>
            </a:br>
            <a:r>
              <a:rPr lang="en-IN" dirty="0"/>
              <a:t>-  Existing systems may not provide a </a:t>
            </a:r>
            <a:r>
              <a:rPr lang="en-IN" b="1" dirty="0"/>
              <a:t>unified platform</a:t>
            </a:r>
            <a:r>
              <a:rPr lang="en-IN" dirty="0"/>
              <a:t> for accessing comprehensive pharmaceutical knowledge.</a:t>
            </a:r>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normAutofit fontScale="70000" lnSpcReduction="20000"/>
          </a:bodyPr>
          <a:lstStyle/>
          <a:p>
            <a:pPr marL="0" indent="0">
              <a:buNone/>
            </a:pPr>
            <a:br>
              <a:rPr lang="en-IN" dirty="0"/>
            </a:br>
            <a:r>
              <a:rPr lang="en-IN" dirty="0"/>
              <a:t>-  Develops a </a:t>
            </a:r>
            <a:r>
              <a:rPr lang="en-IN" b="1" dirty="0"/>
              <a:t>Generative AI-powered pharmaceutical assistant</a:t>
            </a:r>
            <a:r>
              <a:rPr lang="en-IN" dirty="0"/>
              <a:t> for natural-language queries.</a:t>
            </a:r>
            <a:br>
              <a:rPr lang="en-IN" dirty="0"/>
            </a:br>
            <a:r>
              <a:rPr lang="en-IN" dirty="0"/>
              <a:t>-  Creates a </a:t>
            </a:r>
            <a:r>
              <a:rPr lang="en-IN" b="1" dirty="0"/>
              <a:t>centralized pharmaceutical knowledge base</a:t>
            </a:r>
            <a:r>
              <a:rPr lang="en-IN" dirty="0"/>
              <a:t> containing reliable drug-related information.</a:t>
            </a:r>
            <a:br>
              <a:rPr lang="en-IN" dirty="0"/>
            </a:br>
            <a:r>
              <a:rPr lang="en-IN" dirty="0"/>
              <a:t>-  Uses </a:t>
            </a:r>
            <a:r>
              <a:rPr lang="en-IN" b="1" dirty="0"/>
              <a:t>PostgreSQL</a:t>
            </a:r>
            <a:r>
              <a:rPr lang="en-IN" dirty="0"/>
              <a:t> for structured data and </a:t>
            </a:r>
            <a:r>
              <a:rPr lang="en-IN" b="1" dirty="0"/>
              <a:t>MongoDB</a:t>
            </a:r>
            <a:r>
              <a:rPr lang="en-IN" dirty="0"/>
              <a:t> for semi-structured pharmaceutical documents.</a:t>
            </a:r>
            <a:br>
              <a:rPr lang="en-IN" dirty="0"/>
            </a:br>
            <a:r>
              <a:rPr lang="en-IN" dirty="0"/>
              <a:t>-  Uses </a:t>
            </a:r>
            <a:r>
              <a:rPr lang="en-IN" b="1" dirty="0"/>
              <a:t>Vector Database (</a:t>
            </a:r>
            <a:r>
              <a:rPr lang="en-IN" b="1" dirty="0" err="1"/>
              <a:t>pgvector</a:t>
            </a:r>
            <a:r>
              <a:rPr lang="en-IN" b="1" dirty="0"/>
              <a:t>)</a:t>
            </a:r>
            <a:r>
              <a:rPr lang="en-IN" dirty="0"/>
              <a:t> and </a:t>
            </a:r>
            <a:r>
              <a:rPr lang="en-IN" b="1" dirty="0"/>
              <a:t>semantic search</a:t>
            </a:r>
            <a:r>
              <a:rPr lang="en-IN" dirty="0"/>
              <a:t> to retrieve relevant information based on meaning rather than exact keywords.</a:t>
            </a:r>
            <a:br>
              <a:rPr lang="en-IN" dirty="0"/>
            </a:br>
            <a:r>
              <a:rPr lang="en-IN" dirty="0"/>
              <a:t>-  Implements </a:t>
            </a:r>
            <a:r>
              <a:rPr lang="en-IN" b="1" dirty="0"/>
              <a:t>RAG (Retrieval-Augmented Generation)</a:t>
            </a:r>
            <a:r>
              <a:rPr lang="en-IN" dirty="0"/>
              <a:t> to provide knowledge-grounded AI responses and reduce hallucinations.</a:t>
            </a:r>
            <a:br>
              <a:rPr lang="en-IN" dirty="0"/>
            </a:br>
            <a:r>
              <a:rPr lang="en-IN" dirty="0"/>
              <a:t>-  Uses </a:t>
            </a:r>
            <a:r>
              <a:rPr lang="en-IN" b="1" dirty="0"/>
              <a:t>microservices architecture</a:t>
            </a:r>
            <a:r>
              <a:rPr lang="en-IN" dirty="0"/>
              <a:t> to improve scalability, maintainability, and independent service deployment.</a:t>
            </a:r>
            <a:br>
              <a:rPr lang="en-IN" dirty="0"/>
            </a:br>
            <a:r>
              <a:rPr lang="en-IN" dirty="0"/>
              <a:t>-  Provides </a:t>
            </a:r>
            <a:r>
              <a:rPr lang="en-IN" b="1" dirty="0"/>
              <a:t>REST APIs</a:t>
            </a:r>
            <a:r>
              <a:rPr lang="en-IN" dirty="0"/>
              <a:t> for communication between the frontend and backend services.</a:t>
            </a:r>
            <a:br>
              <a:rPr lang="en-IN" dirty="0"/>
            </a:br>
            <a:r>
              <a:rPr lang="en-IN" dirty="0"/>
              <a:t>-  Uses </a:t>
            </a:r>
            <a:r>
              <a:rPr lang="en-IN" b="1" dirty="0"/>
              <a:t>Kafka</a:t>
            </a:r>
            <a:r>
              <a:rPr lang="en-IN" dirty="0"/>
              <a:t> for asynchronous communication and event processing between services.</a:t>
            </a:r>
            <a:br>
              <a:rPr lang="en-IN" dirty="0"/>
            </a:br>
            <a:r>
              <a:rPr lang="en-IN" dirty="0"/>
              <a:t>-  Implements </a:t>
            </a:r>
            <a:r>
              <a:rPr lang="en-IN" b="1" dirty="0"/>
              <a:t>authentication and authorization</a:t>
            </a:r>
            <a:r>
              <a:rPr lang="en-IN" dirty="0"/>
              <a:t> to protect user and pharmaceutical data.</a:t>
            </a:r>
            <a:br>
              <a:rPr lang="en-IN" dirty="0"/>
            </a:br>
            <a:r>
              <a:rPr lang="en-IN" dirty="0"/>
              <a:t>-  Uses </a:t>
            </a:r>
            <a:r>
              <a:rPr lang="en-IN" b="1" dirty="0"/>
              <a:t>Docker containerization</a:t>
            </a:r>
            <a:r>
              <a:rPr lang="en-IN" dirty="0"/>
              <a:t> for consistent and portable deployment.</a:t>
            </a:r>
            <a:br>
              <a:rPr lang="en-IN" dirty="0"/>
            </a:br>
            <a:r>
              <a:rPr lang="en-IN" dirty="0"/>
              <a:t>-  Integrates </a:t>
            </a:r>
            <a:r>
              <a:rPr lang="en-IN" b="1" dirty="0"/>
              <a:t>CI/CD pipelines</a:t>
            </a:r>
            <a:r>
              <a:rPr lang="en-IN" dirty="0"/>
              <a:t> for automated testing and deployment.</a:t>
            </a:r>
            <a:br>
              <a:rPr lang="en-IN" dirty="0"/>
            </a:br>
            <a:r>
              <a:rPr lang="en-IN" dirty="0"/>
              <a:t>-  Provides a </a:t>
            </a:r>
            <a:r>
              <a:rPr lang="en-IN" b="1" dirty="0"/>
              <a:t>user-friendly interface</a:t>
            </a:r>
            <a:r>
              <a:rPr lang="en-IN" dirty="0"/>
              <a:t> where users can quickly obtain relevant pharmaceutical information from a single platform.</a:t>
            </a:r>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fontScale="70000" lnSpcReduction="20000"/>
          </a:bodyPr>
          <a:lstStyle/>
          <a:p>
            <a:pPr marL="0" indent="0">
              <a:buNone/>
            </a:pPr>
            <a:br>
              <a:rPr lang="en-IN" dirty="0"/>
            </a:br>
            <a:r>
              <a:rPr lang="en-IN" dirty="0"/>
              <a:t>-  To develop a </a:t>
            </a:r>
            <a:r>
              <a:rPr lang="en-IN" b="1" dirty="0"/>
              <a:t>Generative AI-based pharmaceutical assistant</a:t>
            </a:r>
            <a:r>
              <a:rPr lang="en-IN" dirty="0"/>
              <a:t> that can understand and respond to user queries.</a:t>
            </a:r>
            <a:br>
              <a:rPr lang="en-IN" dirty="0"/>
            </a:br>
            <a:r>
              <a:rPr lang="en-IN" dirty="0"/>
              <a:t>-  To create a </a:t>
            </a:r>
            <a:r>
              <a:rPr lang="en-IN" b="1" dirty="0"/>
              <a:t>reliable pharmaceutical knowledge base</a:t>
            </a:r>
            <a:r>
              <a:rPr lang="en-IN" dirty="0"/>
              <a:t> for storing drug, dosage, interaction, and medical information.</a:t>
            </a:r>
            <a:br>
              <a:rPr lang="en-IN" dirty="0"/>
            </a:br>
            <a:r>
              <a:rPr lang="en-IN" dirty="0"/>
              <a:t>-  To integrate </a:t>
            </a:r>
            <a:r>
              <a:rPr lang="en-IN" b="1" dirty="0"/>
              <a:t>SQL, NoSQL, and Vector Databases</a:t>
            </a:r>
            <a:r>
              <a:rPr lang="en-IN" dirty="0"/>
              <a:t> for efficient storage and retrieval of different types of pharmaceutical data.</a:t>
            </a:r>
            <a:br>
              <a:rPr lang="en-IN" dirty="0"/>
            </a:br>
            <a:r>
              <a:rPr lang="en-IN" dirty="0"/>
              <a:t>-  To implement </a:t>
            </a:r>
            <a:r>
              <a:rPr lang="en-IN" b="1" dirty="0"/>
              <a:t>semantic search and RAG (Retrieval-Augmented Generation)</a:t>
            </a:r>
            <a:r>
              <a:rPr lang="en-IN" dirty="0"/>
              <a:t> for more relevant and knowledge-grounded responses.</a:t>
            </a:r>
            <a:br>
              <a:rPr lang="en-IN" dirty="0"/>
            </a:br>
            <a:r>
              <a:rPr lang="en-IN" dirty="0"/>
              <a:t>-  To reduce </a:t>
            </a:r>
            <a:r>
              <a:rPr lang="en-IN" b="1" dirty="0"/>
              <a:t>AI hallucinations and unsupported answers</a:t>
            </a:r>
            <a:r>
              <a:rPr lang="en-IN" dirty="0"/>
              <a:t> by using retrieved pharmaceutical information as context.</a:t>
            </a:r>
            <a:br>
              <a:rPr lang="en-IN" dirty="0"/>
            </a:br>
            <a:r>
              <a:rPr lang="en-IN" dirty="0"/>
              <a:t>-  To design a </a:t>
            </a:r>
            <a:r>
              <a:rPr lang="en-IN" b="1" dirty="0"/>
              <a:t>microservices-based architecture</a:t>
            </a:r>
            <a:r>
              <a:rPr lang="en-IN" dirty="0"/>
              <a:t> for scalability, flexibility, and easier maintenance.</a:t>
            </a:r>
            <a:br>
              <a:rPr lang="en-IN" dirty="0"/>
            </a:br>
            <a:r>
              <a:rPr lang="en-IN" dirty="0"/>
              <a:t>-  To develop secure and efficient </a:t>
            </a:r>
            <a:r>
              <a:rPr lang="en-IN" b="1" dirty="0"/>
              <a:t>REST APIs</a:t>
            </a:r>
            <a:r>
              <a:rPr lang="en-IN" dirty="0"/>
              <a:t> for communication between frontend and backend services.</a:t>
            </a:r>
            <a:br>
              <a:rPr lang="en-IN" dirty="0"/>
            </a:br>
            <a:r>
              <a:rPr lang="en-IN" dirty="0"/>
              <a:t>-  To use </a:t>
            </a:r>
            <a:r>
              <a:rPr lang="en-IN" b="1" dirty="0"/>
              <a:t>Kafka</a:t>
            </a:r>
            <a:r>
              <a:rPr lang="en-IN" dirty="0"/>
              <a:t> for asynchronous communication and event processing.</a:t>
            </a:r>
            <a:br>
              <a:rPr lang="en-IN" dirty="0"/>
            </a:br>
            <a:r>
              <a:rPr lang="en-IN" dirty="0"/>
              <a:t>-  To implement </a:t>
            </a:r>
            <a:r>
              <a:rPr lang="en-IN" b="1" dirty="0"/>
              <a:t>Docker and CI/CD</a:t>
            </a:r>
            <a:r>
              <a:rPr lang="en-IN" dirty="0"/>
              <a:t> for automated, consistent, and reliable deployment.</a:t>
            </a:r>
            <a:br>
              <a:rPr lang="en-IN" dirty="0"/>
            </a:br>
            <a:r>
              <a:rPr lang="en-IN" dirty="0"/>
              <a:t>-  To provide a </a:t>
            </a:r>
            <a:r>
              <a:rPr lang="en-IN" b="1" dirty="0"/>
              <a:t>user-friendly platform</a:t>
            </a:r>
            <a:r>
              <a:rPr lang="en-IN" dirty="0"/>
              <a:t> for quick and easy access to pharmaceutical information.</a:t>
            </a:r>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7" name="Content Placeholder 6">
            <a:extLst>
              <a:ext uri="{FF2B5EF4-FFF2-40B4-BE49-F238E27FC236}">
                <a16:creationId xmlns:a16="http://schemas.microsoft.com/office/drawing/2014/main" id="{10645968-9857-349C-4350-445891106033}"/>
              </a:ext>
            </a:extLst>
          </p:cNvPr>
          <p:cNvPicPr>
            <a:picLocks noGrp="1" noChangeAspect="1"/>
          </p:cNvPicPr>
          <p:nvPr>
            <p:ph idx="1"/>
          </p:nvPr>
        </p:nvPicPr>
        <p:blipFill>
          <a:blip r:embed="rId3"/>
          <a:stretch>
            <a:fillRect/>
          </a:stretch>
        </p:blipFill>
        <p:spPr>
          <a:xfrm>
            <a:off x="1676400" y="1356852"/>
            <a:ext cx="8839199" cy="4975063"/>
          </a:xfrm>
          <a:prstGeom prst="rect">
            <a:avLst/>
          </a:prstGeom>
        </p:spPr>
      </p:pic>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normAutofit fontScale="77500" lnSpcReduction="20000"/>
          </a:bodyPr>
          <a:lstStyle/>
          <a:p>
            <a:r>
              <a:rPr lang="en-IN" b="1" dirty="0"/>
              <a:t>SOFTWARE REQUIREMENTS</a:t>
            </a:r>
            <a:br>
              <a:rPr lang="en-IN" dirty="0"/>
            </a:br>
            <a:r>
              <a:rPr lang="en-IN" b="1" dirty="0"/>
              <a:t>Software / Technologies Required:</a:t>
            </a:r>
            <a:br>
              <a:rPr lang="en-IN" dirty="0"/>
            </a:br>
            <a:r>
              <a:rPr lang="en-IN" dirty="0"/>
              <a:t>-  </a:t>
            </a:r>
            <a:r>
              <a:rPr lang="en-IN" b="1" dirty="0"/>
              <a:t>Operating System:</a:t>
            </a:r>
            <a:r>
              <a:rPr lang="en-IN" dirty="0"/>
              <a:t> Windows 10/11, Linux, or macOS</a:t>
            </a:r>
            <a:br>
              <a:rPr lang="en-IN" dirty="0"/>
            </a:br>
            <a:r>
              <a:rPr lang="en-IN" dirty="0"/>
              <a:t>-  </a:t>
            </a:r>
            <a:r>
              <a:rPr lang="en-IN" b="1" dirty="0"/>
              <a:t>Frontend:</a:t>
            </a:r>
            <a:r>
              <a:rPr lang="en-IN" dirty="0"/>
              <a:t> HTML5, CSS3, JavaScript / React.js</a:t>
            </a:r>
            <a:br>
              <a:rPr lang="en-IN" dirty="0"/>
            </a:br>
            <a:r>
              <a:rPr lang="en-IN" dirty="0"/>
              <a:t>-  </a:t>
            </a:r>
            <a:r>
              <a:rPr lang="en-IN" b="1" dirty="0"/>
              <a:t>Backend:</a:t>
            </a:r>
            <a:r>
              <a:rPr lang="en-IN" dirty="0"/>
              <a:t> Python with </a:t>
            </a:r>
            <a:r>
              <a:rPr lang="en-IN" b="1" dirty="0" err="1"/>
              <a:t>FastAPI</a:t>
            </a:r>
            <a:br>
              <a:rPr lang="en-IN" dirty="0"/>
            </a:br>
            <a:r>
              <a:rPr lang="en-IN" dirty="0"/>
              <a:t>-  </a:t>
            </a:r>
            <a:r>
              <a:rPr lang="en-IN" b="1" dirty="0"/>
              <a:t>Additional Backend:</a:t>
            </a:r>
            <a:r>
              <a:rPr lang="en-IN" dirty="0"/>
              <a:t> Node.js with Express.js / Spring Boot</a:t>
            </a:r>
            <a:br>
              <a:rPr lang="en-IN" dirty="0"/>
            </a:br>
            <a:r>
              <a:rPr lang="en-IN" dirty="0"/>
              <a:t>-  </a:t>
            </a:r>
            <a:r>
              <a:rPr lang="en-IN" b="1" dirty="0"/>
              <a:t>Databases:</a:t>
            </a:r>
            <a:r>
              <a:rPr lang="en-IN" dirty="0"/>
              <a:t> PostgreSQL and MongoDB</a:t>
            </a:r>
            <a:br>
              <a:rPr lang="en-IN" dirty="0"/>
            </a:br>
            <a:r>
              <a:rPr lang="en-IN" dirty="0"/>
              <a:t>-  </a:t>
            </a:r>
            <a:r>
              <a:rPr lang="en-IN" b="1" dirty="0"/>
              <a:t>Vector Database:</a:t>
            </a:r>
            <a:r>
              <a:rPr lang="en-IN" dirty="0"/>
              <a:t> PostgreSQL with </a:t>
            </a:r>
            <a:r>
              <a:rPr lang="en-IN" b="1" dirty="0" err="1"/>
              <a:t>pgvector</a:t>
            </a:r>
            <a:br>
              <a:rPr lang="en-IN" dirty="0"/>
            </a:br>
            <a:r>
              <a:rPr lang="en-IN" dirty="0"/>
              <a:t>-  </a:t>
            </a:r>
            <a:r>
              <a:rPr lang="en-IN" b="1" dirty="0"/>
              <a:t>Generative AI:</a:t>
            </a:r>
            <a:r>
              <a:rPr lang="en-IN" dirty="0"/>
              <a:t> LLM / Generative AI API</a:t>
            </a:r>
            <a:br>
              <a:rPr lang="en-IN" dirty="0"/>
            </a:br>
            <a:r>
              <a:rPr lang="en-IN" dirty="0"/>
              <a:t>-  </a:t>
            </a:r>
            <a:r>
              <a:rPr lang="en-IN" b="1" dirty="0"/>
              <a:t>RAG:</a:t>
            </a:r>
            <a:r>
              <a:rPr lang="en-IN" dirty="0"/>
              <a:t> Embedding model and Retrieval-Augmented Generation framework</a:t>
            </a:r>
            <a:br>
              <a:rPr lang="en-IN" dirty="0"/>
            </a:br>
            <a:r>
              <a:rPr lang="en-IN" dirty="0"/>
              <a:t>-  </a:t>
            </a:r>
            <a:r>
              <a:rPr lang="en-IN" b="1" dirty="0"/>
              <a:t>API Testing:</a:t>
            </a:r>
            <a:r>
              <a:rPr lang="en-IN" dirty="0"/>
              <a:t> Postman</a:t>
            </a:r>
            <a:br>
              <a:rPr lang="en-IN" dirty="0"/>
            </a:br>
            <a:r>
              <a:rPr lang="en-IN" dirty="0"/>
              <a:t>-  </a:t>
            </a:r>
            <a:r>
              <a:rPr lang="en-IN" b="1" dirty="0"/>
              <a:t>Messaging:</a:t>
            </a:r>
            <a:r>
              <a:rPr lang="en-IN" dirty="0"/>
              <a:t> Apache Kafka</a:t>
            </a:r>
            <a:br>
              <a:rPr lang="en-IN" dirty="0"/>
            </a:br>
            <a:r>
              <a:rPr lang="en-IN" dirty="0"/>
              <a:t>-  </a:t>
            </a:r>
            <a:r>
              <a:rPr lang="en-IN" b="1" dirty="0"/>
              <a:t>Containerization:</a:t>
            </a:r>
            <a:r>
              <a:rPr lang="en-IN" dirty="0"/>
              <a:t> Docker and Docker Compose</a:t>
            </a:r>
            <a:br>
              <a:rPr lang="en-IN" dirty="0"/>
            </a:br>
            <a:r>
              <a:rPr lang="en-IN" dirty="0"/>
              <a:t>-  </a:t>
            </a:r>
            <a:r>
              <a:rPr lang="en-IN" b="1" dirty="0"/>
              <a:t>Version Control:</a:t>
            </a:r>
            <a:r>
              <a:rPr lang="en-IN" dirty="0"/>
              <a:t> Git and GitHub</a:t>
            </a:r>
            <a:br>
              <a:rPr lang="en-IN" dirty="0"/>
            </a:br>
            <a:r>
              <a:rPr lang="en-IN" dirty="0"/>
              <a:t>-  </a:t>
            </a:r>
            <a:r>
              <a:rPr lang="en-IN" b="1" dirty="0"/>
              <a:t>CI/CD:</a:t>
            </a:r>
            <a:r>
              <a:rPr lang="en-IN" dirty="0"/>
              <a:t> GitHub Actions</a:t>
            </a:r>
            <a:br>
              <a:rPr lang="en-IN" dirty="0"/>
            </a:br>
            <a:r>
              <a:rPr lang="en-IN" dirty="0"/>
              <a:t>-  </a:t>
            </a:r>
            <a:r>
              <a:rPr lang="en-IN" b="1" dirty="0"/>
              <a:t>Documentation:</a:t>
            </a:r>
            <a:r>
              <a:rPr lang="en-IN" dirty="0"/>
              <a:t> </a:t>
            </a:r>
            <a:r>
              <a:rPr lang="en-IN" dirty="0" err="1"/>
              <a:t>OpenAPI</a:t>
            </a:r>
            <a:r>
              <a:rPr lang="en-IN" dirty="0"/>
              <a:t> / Swagger and C4 Model</a:t>
            </a:r>
            <a:br>
              <a:rPr lang="en-IN" dirty="0"/>
            </a:br>
            <a:r>
              <a:rPr lang="en-IN" dirty="0"/>
              <a:t>-  </a:t>
            </a:r>
            <a:r>
              <a:rPr lang="en-IN" b="1" dirty="0"/>
              <a:t>Development Environment:</a:t>
            </a:r>
            <a:r>
              <a:rPr lang="en-IN" dirty="0"/>
              <a:t> Visual Studio Code</a:t>
            </a:r>
            <a:br>
              <a:rPr lang="en-IN" dirty="0"/>
            </a:br>
            <a:r>
              <a:rPr lang="en-IN" dirty="0"/>
              <a:t>-  </a:t>
            </a:r>
            <a:r>
              <a:rPr lang="en-IN" b="1" dirty="0"/>
              <a:t>Web Browser:</a:t>
            </a:r>
            <a:r>
              <a:rPr lang="en-IN" dirty="0"/>
              <a:t> Google Chrome / Microsoft Edge / Mozilla Firefox</a:t>
            </a:r>
            <a:endParaRPr lang="en-US" dirty="0"/>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3" name="Content Placeholder 2">
            <a:extLst>
              <a:ext uri="{FF2B5EF4-FFF2-40B4-BE49-F238E27FC236}">
                <a16:creationId xmlns:a16="http://schemas.microsoft.com/office/drawing/2014/main" id="{80EF92FC-A9D8-2F70-A7B0-C6174E75041B}"/>
              </a:ext>
            </a:extLst>
          </p:cNvPr>
          <p:cNvSpPr>
            <a:spLocks noGrp="1"/>
          </p:cNvSpPr>
          <p:nvPr>
            <p:ph idx="1"/>
          </p:nvPr>
        </p:nvSpPr>
        <p:spPr/>
        <p:txBody>
          <a:bodyPr>
            <a:normAutofit fontScale="62500" lnSpcReduction="20000"/>
          </a:bodyPr>
          <a:lstStyle/>
          <a:p>
            <a:pPr marL="0" indent="0">
              <a:buNone/>
            </a:pPr>
            <a:br>
              <a:rPr lang="en-IN" dirty="0"/>
            </a:br>
            <a:r>
              <a:rPr lang="en-IN" b="1" dirty="0"/>
              <a:t>Conclusion</a:t>
            </a:r>
            <a:br>
              <a:rPr lang="en-IN" dirty="0"/>
            </a:br>
            <a:r>
              <a:rPr lang="en-IN" dirty="0"/>
              <a:t>The </a:t>
            </a:r>
            <a:r>
              <a:rPr lang="en-IN" b="1" dirty="0"/>
              <a:t>Generative AI Assistant and Knowledge Base for Pharmaceuticals</a:t>
            </a:r>
            <a:r>
              <a:rPr lang="en-IN" dirty="0"/>
              <a:t> provides an intelligent and scalable solution for accessing pharmaceutical information. By combining </a:t>
            </a:r>
            <a:r>
              <a:rPr lang="en-IN" b="1" dirty="0"/>
              <a:t>Generative AI, SQL, NoSQL, vector databases, semantic search, and RAG</a:t>
            </a:r>
            <a:r>
              <a:rPr lang="en-IN" dirty="0"/>
              <a:t>, the system can provide context-aware and knowledge-grounded responses to user queries. The use of </a:t>
            </a:r>
            <a:r>
              <a:rPr lang="en-IN" b="1" dirty="0"/>
              <a:t>REST APIs, microservices, Kafka, Docker, and CI/CD</a:t>
            </a:r>
            <a:r>
              <a:rPr lang="en-IN" dirty="0"/>
              <a:t> improves scalability, maintainability, communication, and deployment. Overall, the project demonstrates how modern software technologies can be integrated to create a reliable pharmaceutical information assistant.</a:t>
            </a:r>
            <a:br>
              <a:rPr lang="en-IN" dirty="0"/>
            </a:br>
            <a:r>
              <a:rPr lang="en-IN" b="1" dirty="0"/>
              <a:t>Future Scope</a:t>
            </a:r>
            <a:br>
              <a:rPr lang="en-IN" dirty="0"/>
            </a:br>
            <a:r>
              <a:rPr lang="en-IN" dirty="0"/>
              <a:t>-  Integrate </a:t>
            </a:r>
            <a:r>
              <a:rPr lang="en-IN" b="1" dirty="0"/>
              <a:t>advanced and domain-specific medical LLMs</a:t>
            </a:r>
            <a:r>
              <a:rPr lang="en-IN" dirty="0"/>
              <a:t> for improved pharmaceutical responses.</a:t>
            </a:r>
            <a:br>
              <a:rPr lang="en-IN" dirty="0"/>
            </a:br>
            <a:r>
              <a:rPr lang="en-IN" dirty="0"/>
              <a:t>-  Connect with </a:t>
            </a:r>
            <a:r>
              <a:rPr lang="en-IN" b="1" dirty="0"/>
              <a:t>real-time pharmaceutical and regulatory databases</a:t>
            </a:r>
            <a:r>
              <a:rPr lang="en-IN" dirty="0"/>
              <a:t> for continuously updated information.</a:t>
            </a:r>
            <a:br>
              <a:rPr lang="en-IN" dirty="0"/>
            </a:br>
            <a:r>
              <a:rPr lang="en-IN" dirty="0"/>
              <a:t>-  Add </a:t>
            </a:r>
            <a:r>
              <a:rPr lang="en-IN" b="1" dirty="0"/>
              <a:t>voice-based interaction</a:t>
            </a:r>
            <a:r>
              <a:rPr lang="en-IN" dirty="0"/>
              <a:t> for easier accessibility.</a:t>
            </a:r>
            <a:br>
              <a:rPr lang="en-IN" dirty="0"/>
            </a:br>
            <a:r>
              <a:rPr lang="en-IN" dirty="0"/>
              <a:t>-  Support </a:t>
            </a:r>
            <a:r>
              <a:rPr lang="en-IN" b="1" dirty="0"/>
              <a:t>multiple languages</a:t>
            </a:r>
            <a:r>
              <a:rPr lang="en-IN" dirty="0"/>
              <a:t> for wider usability.</a:t>
            </a:r>
            <a:br>
              <a:rPr lang="en-IN" dirty="0"/>
            </a:br>
            <a:r>
              <a:rPr lang="en-IN" dirty="0"/>
              <a:t>-  Implement </a:t>
            </a:r>
            <a:r>
              <a:rPr lang="en-IN" b="1" dirty="0"/>
              <a:t>personalized medicine recommendations</a:t>
            </a:r>
            <a:r>
              <a:rPr lang="en-IN" dirty="0"/>
              <a:t> based on user-provided information, with appropriate      clinical safeguards.</a:t>
            </a:r>
            <a:br>
              <a:rPr lang="en-IN" dirty="0"/>
            </a:br>
            <a:r>
              <a:rPr lang="en-IN" dirty="0"/>
              <a:t>-  Improve security using advanced </a:t>
            </a:r>
            <a:r>
              <a:rPr lang="en-IN" b="1" dirty="0"/>
              <a:t>encryption, access control, and audit logging</a:t>
            </a:r>
            <a:r>
              <a:rPr lang="en-IN" dirty="0"/>
              <a:t>.</a:t>
            </a:r>
            <a:br>
              <a:rPr lang="en-IN" dirty="0"/>
            </a:br>
            <a:r>
              <a:rPr lang="en-IN" dirty="0"/>
              <a:t>-  Add </a:t>
            </a:r>
            <a:r>
              <a:rPr lang="en-IN" b="1" dirty="0"/>
              <a:t>cloud deployment and auto-scaling</a:t>
            </a:r>
            <a:r>
              <a:rPr lang="en-IN" dirty="0"/>
              <a:t> for handling large numbers of users.</a:t>
            </a:r>
            <a:br>
              <a:rPr lang="en-IN" dirty="0"/>
            </a:br>
            <a:r>
              <a:rPr lang="en-IN" dirty="0"/>
              <a:t>-  Extend the system to support </a:t>
            </a:r>
            <a:r>
              <a:rPr lang="en-IN" b="1" dirty="0"/>
              <a:t>pharmacists, clinicians, researchers, and healthcare organizations</a:t>
            </a:r>
            <a:r>
              <a:rPr lang="en-IN" dirty="0"/>
              <a:t>.</a:t>
            </a:r>
            <a:br>
              <a:rPr lang="en-IN" dirty="0"/>
            </a:br>
            <a:r>
              <a:rPr lang="en-IN" dirty="0"/>
              <a:t>-  Incorporate </a:t>
            </a:r>
            <a:r>
              <a:rPr lang="en-IN" b="1" dirty="0"/>
              <a:t>continuous monitoring and evaluation</a:t>
            </a:r>
            <a:r>
              <a:rPr lang="en-IN" dirty="0"/>
              <a:t> to improve AI accuracy and reduce hallucinations.</a:t>
            </a: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p:txBody>
          <a:bodyPr/>
          <a:lstStyle/>
          <a:p>
            <a:pPr>
              <a:spcAft>
                <a:spcPts val="600"/>
              </a:spcAft>
            </a:pPr>
            <a:fld id="{B961B71F-4B40-8942-BB88-E0F5C0B46E10}" type="slidenum">
              <a:rPr lang="en-US" smtClean="0"/>
              <a:pPr>
                <a:spcAft>
                  <a:spcPts val="600"/>
                </a:spcAft>
              </a:pPr>
              <a:t>11</a:t>
            </a:fld>
            <a:endParaRPr lang="en-US"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8409</TotalTime>
  <Words>1838</Words>
  <Application>Microsoft Office PowerPoint</Application>
  <PresentationFormat>Widescreen</PresentationFormat>
  <Paragraphs>75</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 1st  REVIEW  Distributed Video Anomaly Detection in Large-Scale Surveillance Systems Using HDFS and Cluster-Visualized Federated CNN–LSTM Models </vt:lpstr>
      <vt:lpstr>GROUP NUMBER:1</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Anuradha Nandini Peddiraju</cp:lastModifiedBy>
  <cp:revision>95</cp:revision>
  <dcterms:created xsi:type="dcterms:W3CDTF">2022-05-20T10:20:31Z</dcterms:created>
  <dcterms:modified xsi:type="dcterms:W3CDTF">2026-08-18T03:20:41Z</dcterms:modified>
</cp:coreProperties>
</file>
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14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808" y="630368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/>
              <a:t>Generative AI Assistant and </a:t>
            </a:r>
            <a:r>
              <a:rPr lang="en-IN" sz="2800" b="1"/>
              <a:t>Knowledge base for </a:t>
            </a:r>
            <a:r>
              <a:rPr lang="en-IN" sz="2800" b="1" dirty="0"/>
              <a:t>pharmaceuticals</a:t>
            </a:r>
            <a:endParaRPr lang="en-US" sz="2800" b="1" dirty="0">
              <a:solidFill>
                <a:srgbClr val="011893"/>
              </a:solidFill>
              <a:cs typeface="Arial" panose="020B0604020202020204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</a:p>
          <a:p>
            <a:pPr marL="0" indent="0" algn="ctr">
              <a:buNone/>
            </a:pPr>
            <a:r>
              <a:rPr lang="en-IN" sz="2400" dirty="0"/>
              <a:t>Dr. Spandana. s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486320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Anthony Nissy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P. Anuradha Nandini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K. Shashank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337882"/>
              </p:ext>
            </p:extLst>
          </p:nvPr>
        </p:nvGraphicFramePr>
        <p:xfrm>
          <a:off x="838199" y="1645175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Anthony Nissy- 2520030064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P. Anuradha Nandini- 2520030171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K. Shashank Reddy - 2520030215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1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Generative AI Assistant and Knowledge Base for Pharmaceuticals</a:t>
            </a:r>
            <a:r>
              <a:rPr lang="en-IN" sz="1800" dirty="0"/>
              <a:t> is developed to provide users with reliable, accurate, and easy-to-understand information about medicines. The system can answer queries related to </a:t>
            </a:r>
            <a:r>
              <a:rPr lang="en-IN" sz="1800" b="1" dirty="0"/>
              <a:t>drug uses, dosage, side effects, drug interactions, precautions, and pharmaceutical documents</a:t>
            </a:r>
            <a:r>
              <a:rPr lang="en-IN" sz="1800" dirty="0"/>
              <a:t>. It uses </a:t>
            </a:r>
            <a:r>
              <a:rPr lang="en-IN" sz="1800" b="1" dirty="0"/>
              <a:t>Generative AI and RAG (Retrieval-Augmented Generation)</a:t>
            </a:r>
            <a:r>
              <a:rPr lang="en-IN" sz="1800" dirty="0"/>
              <a:t> to search relevant information from a trusted knowledge base before generating a response. This helps the system provide more </a:t>
            </a:r>
            <a:r>
              <a:rPr lang="en-IN" sz="1800" b="1" dirty="0"/>
              <a:t>context-aware answers and reduces the chances of AI hallucinations</a:t>
            </a:r>
            <a:r>
              <a:rPr lang="en-IN" sz="1800" dirty="0"/>
              <a:t>.</a:t>
            </a:r>
          </a:p>
          <a:p>
            <a:pPr marL="0" indent="0">
              <a:buNone/>
            </a:pPr>
            <a:r>
              <a:rPr lang="en-IN" sz="1800" dirty="0"/>
              <a:t>The system uses different databases for managing different types of information. </a:t>
            </a:r>
            <a:r>
              <a:rPr lang="en-IN" sz="1800" b="1" dirty="0"/>
              <a:t>PostgreSQL</a:t>
            </a:r>
            <a:r>
              <a:rPr lang="en-IN" sz="1800" dirty="0"/>
              <a:t> stores structured data such as drug details, manufacturers, prescriptions, and user information, while </a:t>
            </a:r>
            <a:r>
              <a:rPr lang="en-IN" sz="1800" b="1" dirty="0"/>
              <a:t>MongoDB</a:t>
            </a:r>
            <a:r>
              <a:rPr lang="en-IN" sz="1800" dirty="0"/>
              <a:t> stores semi-structured information such as drug leaflets, FAQs, and clinical notes. </a:t>
            </a:r>
            <a:r>
              <a:rPr lang="en-IN" sz="1800" b="1" dirty="0"/>
              <a:t>pgvector</a:t>
            </a:r>
            <a:r>
              <a:rPr lang="en-IN" sz="1800" dirty="0"/>
              <a:t> is used to perform semantic or meaning-based searches, helping the AI find the most relevant information. The backend follows a </a:t>
            </a:r>
            <a:r>
              <a:rPr lang="en-IN" sz="1800" b="1" dirty="0"/>
              <a:t>microservices architecture</a:t>
            </a:r>
            <a:r>
              <a:rPr lang="en-IN" sz="1800" dirty="0"/>
              <a:t>, where different services handle authentication, user management, drug information, knowledge retrieval, and AI-based responses separately. Technologies such as </a:t>
            </a:r>
            <a:r>
              <a:rPr lang="en-IN" sz="1800" b="1" dirty="0"/>
              <a:t>Fast API, Node.js, Kafka, and Docker</a:t>
            </a:r>
            <a:r>
              <a:rPr lang="en-IN" sz="1800" dirty="0"/>
              <a:t> are used to build and deploy the system.</a:t>
            </a:r>
          </a:p>
          <a:p>
            <a:pPr marL="0" indent="0">
              <a:buNone/>
            </a:pPr>
            <a:r>
              <a:rPr lang="en-IN" sz="1800" dirty="0"/>
              <a:t>The final application provides a simple interface where </a:t>
            </a:r>
            <a:r>
              <a:rPr lang="en-IN" sz="1800" b="1" dirty="0"/>
              <a:t>patients, pharmacists, clinicians, and healthcare professionals</a:t>
            </a:r>
            <a:r>
              <a:rPr lang="en-IN" sz="1800" dirty="0"/>
              <a:t> can ask pharmaceutical-related questions and receive AI-generated responses based on verified information. The main aim of the project is to make </a:t>
            </a:r>
            <a:r>
              <a:rPr lang="en-IN" sz="1800" b="1" dirty="0"/>
              <a:t>pharmaceutical knowledge faster, easier, and more reliable to access</a:t>
            </a:r>
            <a:r>
              <a:rPr lang="en-IN" sz="1800" dirty="0"/>
              <a:t>, while providing a scalable system that can be updated with new information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IN" b="1" dirty="0"/>
              <a:t>Generative AI Assistant for Pharmaceuticals</a:t>
            </a:r>
            <a:r>
              <a:rPr lang="en-IN" dirty="0"/>
              <a:t> is an AI-based system designed to provide reliable pharmaceutical information. </a:t>
            </a:r>
          </a:p>
          <a:p>
            <a:pPr lvl="0"/>
            <a:r>
              <a:rPr lang="en-IN" dirty="0"/>
              <a:t>It helps users find information about </a:t>
            </a:r>
            <a:r>
              <a:rPr lang="en-IN" b="1" dirty="0"/>
              <a:t>medicines, dosage, side effects, drug interactions, and precautions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Uses </a:t>
            </a:r>
            <a:r>
              <a:rPr lang="en-IN" b="1" dirty="0"/>
              <a:t>Generative AI and RAG (Retrieval-Augmented Generation)</a:t>
            </a:r>
            <a:r>
              <a:rPr lang="en-IN" dirty="0"/>
              <a:t> to provide context-based answers. </a:t>
            </a:r>
          </a:p>
          <a:p>
            <a:pPr lvl="0"/>
            <a:r>
              <a:rPr lang="en-IN" dirty="0"/>
              <a:t>Retrieves information from a </a:t>
            </a:r>
            <a:r>
              <a:rPr lang="en-IN" b="1" dirty="0"/>
              <a:t>trusted and continuously updated knowledge base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Uses </a:t>
            </a:r>
            <a:r>
              <a:rPr lang="en-IN" b="1" dirty="0"/>
              <a:t>PostgreSQL, MongoDB, and pgvector</a:t>
            </a:r>
            <a:r>
              <a:rPr lang="en-IN" dirty="0"/>
              <a:t> to manage different types of pharmaceutical data. </a:t>
            </a:r>
          </a:p>
          <a:p>
            <a:pPr lvl="0"/>
            <a:r>
              <a:rPr lang="en-IN" dirty="0"/>
              <a:t>Built using a </a:t>
            </a:r>
            <a:r>
              <a:rPr lang="en-IN" b="1" dirty="0"/>
              <a:t>microservices architecture</a:t>
            </a:r>
            <a:r>
              <a:rPr lang="en-IN" dirty="0"/>
              <a:t> for better scalability and flexibility. </a:t>
            </a:r>
          </a:p>
          <a:p>
            <a:pPr lvl="0"/>
            <a:r>
              <a:rPr lang="en-IN" dirty="0"/>
              <a:t>Uses </a:t>
            </a:r>
            <a:r>
              <a:rPr lang="en-IN" b="1" dirty="0"/>
              <a:t>FastAPI and Node.js/Spring Boot</a:t>
            </a:r>
            <a:r>
              <a:rPr lang="en-IN" dirty="0"/>
              <a:t> for backend services. </a:t>
            </a:r>
          </a:p>
          <a:p>
            <a:pPr lvl="0"/>
            <a:r>
              <a:rPr lang="en-IN" b="1" dirty="0"/>
              <a:t>Docker</a:t>
            </a:r>
            <a:r>
              <a:rPr lang="en-IN" dirty="0"/>
              <a:t> is used to containerize and simplify deployment. </a:t>
            </a:r>
          </a:p>
          <a:p>
            <a:pPr lvl="0"/>
            <a:r>
              <a:rPr lang="en-IN" dirty="0"/>
              <a:t>Helps </a:t>
            </a:r>
            <a:r>
              <a:rPr lang="en-IN" b="1" dirty="0"/>
              <a:t>reduce AI hallucinations</a:t>
            </a:r>
            <a:r>
              <a:rPr lang="en-IN" dirty="0"/>
              <a:t> by grounding responses in verified information. </a:t>
            </a:r>
          </a:p>
          <a:p>
            <a:pPr lvl="0"/>
            <a:r>
              <a:rPr lang="en-IN" dirty="0"/>
              <a:t>Designed for </a:t>
            </a:r>
            <a:r>
              <a:rPr lang="en-IN" b="1" dirty="0"/>
              <a:t>patients, pharmacists, clinicians, and healthcare professionals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Improves the </a:t>
            </a:r>
            <a:r>
              <a:rPr lang="en-IN" b="1" dirty="0"/>
              <a:t>accessibility, speed, and reliability</a:t>
            </a:r>
            <a:r>
              <a:rPr lang="en-IN" dirty="0"/>
              <a:t> of pharmaceutical knowledge.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br>
              <a:rPr lang="en-IN" dirty="0"/>
            </a:br>
            <a:r>
              <a:rPr lang="en-IN" dirty="0"/>
              <a:t>- Uses </a:t>
            </a:r>
            <a:r>
              <a:rPr lang="en-IN" b="1" dirty="0"/>
              <a:t>old/traditional databases</a:t>
            </a:r>
            <a:r>
              <a:rPr lang="en-IN" dirty="0"/>
              <a:t> to store medicine information.</a:t>
            </a:r>
            <a:br>
              <a:rPr lang="en-IN" dirty="0"/>
            </a:br>
            <a:r>
              <a:rPr lang="en-IN" dirty="0"/>
              <a:t>- Provides details like </a:t>
            </a:r>
            <a:r>
              <a:rPr lang="en-IN" b="1" dirty="0"/>
              <a:t>dosage, side effects, and drug interactions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Mainly uses </a:t>
            </a:r>
            <a:r>
              <a:rPr lang="en-IN" b="1" dirty="0"/>
              <a:t>keyword search</a:t>
            </a:r>
            <a:r>
              <a:rPr lang="en-IN" dirty="0"/>
              <a:t> to find information.</a:t>
            </a:r>
            <a:br>
              <a:rPr lang="en-IN" dirty="0"/>
            </a:br>
            <a:r>
              <a:rPr lang="en-IN" dirty="0"/>
              <a:t>- Uses </a:t>
            </a:r>
            <a:r>
              <a:rPr lang="en-IN" b="1" dirty="0"/>
              <a:t>basic chatbots</a:t>
            </a:r>
            <a:r>
              <a:rPr lang="en-IN" dirty="0"/>
              <a:t> to answer simple questions.</a:t>
            </a:r>
            <a:br>
              <a:rPr lang="en-IN" dirty="0"/>
            </a:br>
            <a:r>
              <a:rPr lang="en-IN" dirty="0"/>
              <a:t>- Usually depends on </a:t>
            </a:r>
            <a:r>
              <a:rPr lang="en-IN" b="1" dirty="0"/>
              <a:t>limited data sources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Has difficulty understanding </a:t>
            </a:r>
            <a:r>
              <a:rPr lang="en-IN" b="1" dirty="0"/>
              <a:t>natural-language questions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Does not usually combine </a:t>
            </a:r>
            <a:r>
              <a:rPr lang="en-IN" b="1" dirty="0"/>
              <a:t>SQL, NoSQL, and vector databases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Has limited use of </a:t>
            </a:r>
            <a:r>
              <a:rPr lang="en-IN" b="1" dirty="0"/>
              <a:t>semantic search and RAG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Many systems are </a:t>
            </a:r>
            <a:r>
              <a:rPr lang="en-IN" b="1" dirty="0"/>
              <a:t>monolithic</a:t>
            </a:r>
            <a:r>
              <a:rPr lang="en-IN" dirty="0"/>
              <a:t>, so they are harder to maintain and scale.</a:t>
            </a:r>
            <a:br>
              <a:rPr lang="en-IN" dirty="0"/>
            </a:br>
            <a:r>
              <a:rPr lang="en-IN" dirty="0"/>
              <a:t>- AI may give </a:t>
            </a:r>
            <a:r>
              <a:rPr lang="en-IN" b="1" dirty="0"/>
              <a:t>wrong information</a:t>
            </a:r>
            <a:r>
              <a:rPr lang="en-IN" dirty="0"/>
              <a:t> without a trusted knowledge base.</a:t>
            </a:r>
            <a:br>
              <a:rPr lang="en-IN" dirty="0"/>
            </a:br>
            <a:r>
              <a:rPr lang="en-IN" dirty="0"/>
              <a:t>- Has limited use of </a:t>
            </a:r>
            <a:r>
              <a:rPr lang="en-IN" b="1" dirty="0"/>
              <a:t>microservices, Kafka, Docker, and CI/CD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Overall, existing systems are </a:t>
            </a:r>
            <a:r>
              <a:rPr lang="en-IN" b="1" dirty="0"/>
              <a:t>less intelligent, less flexible, and less scalable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- </a:t>
            </a:r>
            <a:r>
              <a:rPr lang="en-IN" b="1" dirty="0"/>
              <a:t>Keyword search</a:t>
            </a:r>
            <a:r>
              <a:rPr lang="en-IN" dirty="0"/>
              <a:t> may not understand the user's actual question.</a:t>
            </a:r>
            <a:br>
              <a:rPr lang="en-IN" dirty="0"/>
            </a:br>
            <a:r>
              <a:rPr lang="en-IN" dirty="0"/>
              <a:t>- Information is </a:t>
            </a:r>
            <a:r>
              <a:rPr lang="en-IN" b="1" dirty="0"/>
              <a:t>spread across different sources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Difficult to handle both </a:t>
            </a:r>
            <a:r>
              <a:rPr lang="en-IN" b="1" dirty="0"/>
              <a:t>structured and unstructured data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Provides limited </a:t>
            </a:r>
            <a:r>
              <a:rPr lang="en-IN" b="1" dirty="0"/>
              <a:t>personalized answers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Basic chatbots cannot answer </a:t>
            </a:r>
            <a:r>
              <a:rPr lang="en-IN" b="1" dirty="0"/>
              <a:t>complex or new questions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AI may give </a:t>
            </a:r>
            <a:r>
              <a:rPr lang="en-IN" b="1" dirty="0"/>
              <a:t>wrong or made-up information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Without semantic search, results may be </a:t>
            </a:r>
            <a:r>
              <a:rPr lang="en-IN" b="1" dirty="0"/>
              <a:t>irrelevant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Limited use of </a:t>
            </a:r>
            <a:r>
              <a:rPr lang="en-IN" b="1" dirty="0"/>
              <a:t>SQL, NoSQL, and vector databases</a:t>
            </a:r>
            <a:r>
              <a:rPr lang="en-IN" dirty="0"/>
              <a:t> together.</a:t>
            </a:r>
            <a:br>
              <a:rPr lang="en-IN" dirty="0"/>
            </a:br>
            <a:r>
              <a:rPr lang="en-IN" dirty="0"/>
              <a:t>- </a:t>
            </a:r>
            <a:r>
              <a:rPr lang="en-IN" b="1" dirty="0"/>
              <a:t>Monolithic systems</a:t>
            </a:r>
            <a:r>
              <a:rPr lang="en-IN" dirty="0"/>
              <a:t> are difficult to scale and maintain.</a:t>
            </a:r>
            <a:br>
              <a:rPr lang="en-IN" dirty="0"/>
            </a:br>
            <a:r>
              <a:rPr lang="en-IN" dirty="0"/>
              <a:t>- Limited use of </a:t>
            </a:r>
            <a:r>
              <a:rPr lang="en-IN" b="1" dirty="0"/>
              <a:t>microservices and fast communication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Manual testing and deployment can be </a:t>
            </a:r>
            <a:r>
              <a:rPr lang="en-IN" b="1" dirty="0"/>
              <a:t>slow and error-prone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No </a:t>
            </a:r>
            <a:r>
              <a:rPr lang="en-IN" b="1" dirty="0"/>
              <a:t>single platform</a:t>
            </a:r>
            <a:r>
              <a:rPr lang="en-IN" dirty="0"/>
              <a:t> for complete pharmaceutical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IN" dirty="0"/>
            </a:br>
            <a:r>
              <a:rPr lang="en-IN" dirty="0"/>
              <a:t>-  Develops a </a:t>
            </a:r>
            <a:r>
              <a:rPr lang="en-IN" b="1" dirty="0"/>
              <a:t>Generative AI-powered pharmaceutical assistant</a:t>
            </a:r>
            <a:r>
              <a:rPr lang="en-IN" dirty="0"/>
              <a:t> for natural-language queries.</a:t>
            </a:r>
            <a:br>
              <a:rPr lang="en-IN" dirty="0"/>
            </a:br>
            <a:r>
              <a:rPr lang="en-IN" dirty="0"/>
              <a:t>-  Creates a </a:t>
            </a:r>
            <a:r>
              <a:rPr lang="en-IN" b="1" dirty="0"/>
              <a:t>centralized pharmaceutical knowledge base</a:t>
            </a:r>
            <a:r>
              <a:rPr lang="en-IN" dirty="0"/>
              <a:t> containing reliable drug-related information.</a:t>
            </a:r>
            <a:br>
              <a:rPr lang="en-IN" dirty="0"/>
            </a:br>
            <a:r>
              <a:rPr lang="en-IN" dirty="0"/>
              <a:t>-  Uses </a:t>
            </a:r>
            <a:r>
              <a:rPr lang="en-IN" b="1" dirty="0"/>
              <a:t>PostgreSQL</a:t>
            </a:r>
            <a:r>
              <a:rPr lang="en-IN" dirty="0"/>
              <a:t> for structured data and </a:t>
            </a:r>
            <a:r>
              <a:rPr lang="en-IN" b="1" dirty="0"/>
              <a:t>MongoDB</a:t>
            </a:r>
            <a:r>
              <a:rPr lang="en-IN" dirty="0"/>
              <a:t> for semi-structured pharmaceutical documents.</a:t>
            </a:r>
            <a:br>
              <a:rPr lang="en-IN" dirty="0"/>
            </a:br>
            <a:r>
              <a:rPr lang="en-IN" dirty="0"/>
              <a:t>-  Uses </a:t>
            </a:r>
            <a:r>
              <a:rPr lang="en-IN" b="1" dirty="0"/>
              <a:t>Vector Database (pgvector)</a:t>
            </a:r>
            <a:r>
              <a:rPr lang="en-IN" dirty="0"/>
              <a:t> and </a:t>
            </a:r>
            <a:r>
              <a:rPr lang="en-IN" b="1" dirty="0"/>
              <a:t>semantic search</a:t>
            </a:r>
            <a:r>
              <a:rPr lang="en-IN" dirty="0"/>
              <a:t> to retrieve relevant information based on meaning rather than exact keywords.</a:t>
            </a:r>
            <a:br>
              <a:rPr lang="en-IN" dirty="0"/>
            </a:br>
            <a:r>
              <a:rPr lang="en-IN" dirty="0"/>
              <a:t>-  Implements </a:t>
            </a:r>
            <a:r>
              <a:rPr lang="en-IN" b="1" dirty="0"/>
              <a:t>RAG (Retrieval-Augmented Generation)</a:t>
            </a:r>
            <a:r>
              <a:rPr lang="en-IN" dirty="0"/>
              <a:t> to provide knowledge-grounded AI responses and reduce hallucinations.</a:t>
            </a:r>
            <a:br>
              <a:rPr lang="en-IN" dirty="0"/>
            </a:br>
            <a:r>
              <a:rPr lang="en-IN" dirty="0"/>
              <a:t>-  Uses </a:t>
            </a:r>
            <a:r>
              <a:rPr lang="en-IN" b="1" dirty="0"/>
              <a:t>microservices architecture</a:t>
            </a:r>
            <a:r>
              <a:rPr lang="en-IN" dirty="0"/>
              <a:t> to improve scalability, maintainability, and independent service deployment.</a:t>
            </a:r>
            <a:br>
              <a:rPr lang="en-IN" dirty="0"/>
            </a:br>
            <a:r>
              <a:rPr lang="en-IN" dirty="0"/>
              <a:t>-  Provides </a:t>
            </a:r>
            <a:r>
              <a:rPr lang="en-IN" b="1" dirty="0"/>
              <a:t>REST APIs</a:t>
            </a:r>
            <a:r>
              <a:rPr lang="en-IN" dirty="0"/>
              <a:t> for communication between the frontend and backend services.</a:t>
            </a:r>
            <a:br>
              <a:rPr lang="en-IN" dirty="0"/>
            </a:br>
            <a:r>
              <a:rPr lang="en-IN" dirty="0"/>
              <a:t>-  Uses </a:t>
            </a:r>
            <a:r>
              <a:rPr lang="en-IN" b="1" dirty="0"/>
              <a:t>Kafka</a:t>
            </a:r>
            <a:r>
              <a:rPr lang="en-IN" dirty="0"/>
              <a:t> for asynchronous communication and event processing between services.</a:t>
            </a:r>
            <a:br>
              <a:rPr lang="en-IN" dirty="0"/>
            </a:br>
            <a:r>
              <a:rPr lang="en-IN" dirty="0"/>
              <a:t>-  Implements </a:t>
            </a:r>
            <a:r>
              <a:rPr lang="en-IN" b="1" dirty="0"/>
              <a:t>authentication and authorization</a:t>
            </a:r>
            <a:r>
              <a:rPr lang="en-IN" dirty="0"/>
              <a:t> to protect user and pharmaceutical data.</a:t>
            </a:r>
            <a:br>
              <a:rPr lang="en-IN" dirty="0"/>
            </a:br>
            <a:r>
              <a:rPr lang="en-IN" dirty="0"/>
              <a:t>-  Uses </a:t>
            </a:r>
            <a:r>
              <a:rPr lang="en-IN" b="1" dirty="0"/>
              <a:t>Docker containerization</a:t>
            </a:r>
            <a:r>
              <a:rPr lang="en-IN" dirty="0"/>
              <a:t> for consistent and portable deployment.</a:t>
            </a:r>
            <a:br>
              <a:rPr lang="en-IN" dirty="0"/>
            </a:br>
            <a:r>
              <a:rPr lang="en-IN" dirty="0"/>
              <a:t>-  Integrates </a:t>
            </a:r>
            <a:r>
              <a:rPr lang="en-IN" b="1" dirty="0"/>
              <a:t>CI/CD pipelines</a:t>
            </a:r>
            <a:r>
              <a:rPr lang="en-IN" dirty="0"/>
              <a:t> for automated testing and deployment.</a:t>
            </a:r>
            <a:br>
              <a:rPr lang="en-IN" dirty="0"/>
            </a:br>
            <a:r>
              <a:rPr lang="en-IN" dirty="0"/>
              <a:t>-  Provides a </a:t>
            </a:r>
            <a:r>
              <a:rPr lang="en-IN" b="1" dirty="0"/>
              <a:t>user-friendly interface</a:t>
            </a:r>
            <a:r>
              <a:rPr lang="en-IN" dirty="0"/>
              <a:t> where users can quickly obtain relevant pharmaceutical information from a single platform.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IN" dirty="0"/>
            </a:br>
            <a:r>
              <a:rPr lang="en-IN" dirty="0"/>
              <a:t>-  To develop a </a:t>
            </a:r>
            <a:r>
              <a:rPr lang="en-IN" b="1" dirty="0"/>
              <a:t>Generative AI-based pharmaceutical assistant</a:t>
            </a:r>
            <a:r>
              <a:rPr lang="en-IN" dirty="0"/>
              <a:t> that can understand and respond to user queries.</a:t>
            </a:r>
            <a:br>
              <a:rPr lang="en-IN" dirty="0"/>
            </a:br>
            <a:r>
              <a:rPr lang="en-IN" dirty="0"/>
              <a:t>-  To create a </a:t>
            </a:r>
            <a:r>
              <a:rPr lang="en-IN" b="1" dirty="0"/>
              <a:t>reliable pharmaceutical knowledge base</a:t>
            </a:r>
            <a:r>
              <a:rPr lang="en-IN" dirty="0"/>
              <a:t> for storing drug, dosage, interaction, and medical information.</a:t>
            </a:r>
            <a:br>
              <a:rPr lang="en-IN" dirty="0"/>
            </a:br>
            <a:r>
              <a:rPr lang="en-IN" dirty="0"/>
              <a:t>-  To integrate </a:t>
            </a:r>
            <a:r>
              <a:rPr lang="en-IN" b="1" dirty="0"/>
              <a:t>SQL, NoSQL, and Vector Databases</a:t>
            </a:r>
            <a:r>
              <a:rPr lang="en-IN" dirty="0"/>
              <a:t> for efficient storage and retrieval of different types of pharmaceutical data.</a:t>
            </a:r>
            <a:br>
              <a:rPr lang="en-IN" dirty="0"/>
            </a:br>
            <a:r>
              <a:rPr lang="en-IN" dirty="0"/>
              <a:t>-  To implement </a:t>
            </a:r>
            <a:r>
              <a:rPr lang="en-IN" b="1" dirty="0"/>
              <a:t>semantic search and RAG (Retrieval-Augmented Generation)</a:t>
            </a:r>
            <a:r>
              <a:rPr lang="en-IN" dirty="0"/>
              <a:t> for more relevant and knowledge-grounded responses.</a:t>
            </a:r>
            <a:br>
              <a:rPr lang="en-IN" dirty="0"/>
            </a:br>
            <a:r>
              <a:rPr lang="en-IN" dirty="0"/>
              <a:t>-  To reduce </a:t>
            </a:r>
            <a:r>
              <a:rPr lang="en-IN" b="1" dirty="0"/>
              <a:t>AI hallucinations and unsupported answers</a:t>
            </a:r>
            <a:r>
              <a:rPr lang="en-IN" dirty="0"/>
              <a:t> by using retrieved pharmaceutical information as context.</a:t>
            </a:r>
            <a:br>
              <a:rPr lang="en-IN" dirty="0"/>
            </a:br>
            <a:r>
              <a:rPr lang="en-IN" dirty="0"/>
              <a:t>-  To design a </a:t>
            </a:r>
            <a:r>
              <a:rPr lang="en-IN" b="1" dirty="0"/>
              <a:t>microservices-based architecture</a:t>
            </a:r>
            <a:r>
              <a:rPr lang="en-IN" dirty="0"/>
              <a:t> for scalability, flexibility, and easier maintenance.</a:t>
            </a:r>
            <a:br>
              <a:rPr lang="en-IN" dirty="0"/>
            </a:br>
            <a:r>
              <a:rPr lang="en-IN" dirty="0"/>
              <a:t>-  To develop secure and efficient </a:t>
            </a:r>
            <a:r>
              <a:rPr lang="en-IN" b="1" dirty="0"/>
              <a:t>REST APIs</a:t>
            </a:r>
            <a:r>
              <a:rPr lang="en-IN" dirty="0"/>
              <a:t> for communication between frontend and backend services.</a:t>
            </a:r>
            <a:br>
              <a:rPr lang="en-IN" dirty="0"/>
            </a:br>
            <a:r>
              <a:rPr lang="en-IN" dirty="0"/>
              <a:t>-  To use </a:t>
            </a:r>
            <a:r>
              <a:rPr lang="en-IN" b="1" dirty="0"/>
              <a:t>Kafka</a:t>
            </a:r>
            <a:r>
              <a:rPr lang="en-IN" dirty="0"/>
              <a:t> for asynchronous communication and event processing.</a:t>
            </a:r>
            <a:br>
              <a:rPr lang="en-IN" dirty="0"/>
            </a:br>
            <a:r>
              <a:rPr lang="en-IN" dirty="0"/>
              <a:t>-  To implement </a:t>
            </a:r>
            <a:r>
              <a:rPr lang="en-IN" b="1" dirty="0"/>
              <a:t>Docker and CI/CD</a:t>
            </a:r>
            <a:r>
              <a:rPr lang="en-IN" dirty="0"/>
              <a:t> for automated, consistent, and reliable deployment.</a:t>
            </a:r>
            <a:br>
              <a:rPr lang="en-IN" dirty="0"/>
            </a:br>
            <a:r>
              <a:rPr lang="en-IN" dirty="0"/>
              <a:t>-  To provide a </a:t>
            </a:r>
            <a:r>
              <a:rPr lang="en-IN" b="1" dirty="0"/>
              <a:t>user-friendly platform</a:t>
            </a:r>
            <a:r>
              <a:rPr lang="en-IN" dirty="0"/>
              <a:t> for quick and easy access to pharmaceutical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768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EB5E87-3A1F-F75D-2F41-E0C22E136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8538" y="1289551"/>
            <a:ext cx="9134923" cy="478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-  </a:t>
            </a:r>
            <a:r>
              <a:rPr lang="en-IN" b="1" dirty="0"/>
              <a:t>Operating System:</a:t>
            </a:r>
            <a:r>
              <a:rPr lang="en-IN" dirty="0"/>
              <a:t> Windows 10/11, Linux, or macOS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Frontend:</a:t>
            </a:r>
            <a:r>
              <a:rPr lang="en-IN" dirty="0"/>
              <a:t> HTML5, CSS3, JavaScript / React.js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Backend:</a:t>
            </a:r>
            <a:r>
              <a:rPr lang="en-IN" dirty="0"/>
              <a:t> Python with </a:t>
            </a:r>
            <a:r>
              <a:rPr lang="en-IN" b="1" dirty="0"/>
              <a:t>FastAPI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Additional Backend:</a:t>
            </a:r>
            <a:r>
              <a:rPr lang="en-IN" dirty="0"/>
              <a:t> Node.js with Express.js / Spring Boot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Databases:</a:t>
            </a:r>
            <a:r>
              <a:rPr lang="en-IN" dirty="0"/>
              <a:t> PostgreSQL and MongoDB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Vector Database:</a:t>
            </a:r>
            <a:r>
              <a:rPr lang="en-IN" dirty="0"/>
              <a:t> PostgreSQL with </a:t>
            </a:r>
            <a:r>
              <a:rPr lang="en-IN" b="1" dirty="0"/>
              <a:t>pgvector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Generative AI:</a:t>
            </a:r>
            <a:r>
              <a:rPr lang="en-IN" dirty="0"/>
              <a:t> LLM / Generative AI API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RAG:</a:t>
            </a:r>
            <a:r>
              <a:rPr lang="en-IN" dirty="0"/>
              <a:t> Embedding model and Retrieval-Augmented Generation framework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API Testing:</a:t>
            </a:r>
            <a:r>
              <a:rPr lang="en-IN" dirty="0"/>
              <a:t> Postman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Messaging:</a:t>
            </a:r>
            <a:r>
              <a:rPr lang="en-IN" dirty="0"/>
              <a:t> Apache Kafka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Containerization:</a:t>
            </a:r>
            <a:r>
              <a:rPr lang="en-IN" dirty="0"/>
              <a:t> Docker and Docker Compose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Version Control:</a:t>
            </a:r>
            <a:r>
              <a:rPr lang="en-IN" dirty="0"/>
              <a:t> Git and GitHub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CI/CD:</a:t>
            </a:r>
            <a:r>
              <a:rPr lang="en-IN" dirty="0"/>
              <a:t> GitHub Actions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Documentation:</a:t>
            </a:r>
            <a:r>
              <a:rPr lang="en-IN" dirty="0"/>
              <a:t> OpenAPI / Swagger and C4 Model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Development Environment:</a:t>
            </a:r>
            <a:r>
              <a:rPr lang="en-IN" dirty="0"/>
              <a:t> Visual Studio Code</a:t>
            </a:r>
            <a:br>
              <a:rPr lang="en-IN" dirty="0"/>
            </a:br>
            <a:r>
              <a:rPr lang="en-IN" dirty="0"/>
              <a:t>-  </a:t>
            </a:r>
            <a:r>
              <a:rPr lang="en-IN" b="1" dirty="0"/>
              <a:t>Web Browser:</a:t>
            </a:r>
            <a:r>
              <a:rPr lang="en-IN" dirty="0"/>
              <a:t> Google Chrome / Microsoft Edge / Mozilla Firefox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F92FC-A9D8-2F70-A7B0-C6174E750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br>
              <a:rPr lang="en-IN" dirty="0"/>
            </a:br>
            <a:r>
              <a:rPr lang="en-IN" dirty="0"/>
              <a:t>- Provides an </a:t>
            </a:r>
            <a:r>
              <a:rPr lang="en-IN" b="1" dirty="0"/>
              <a:t>intelligent pharmaceutical information assistant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Uses </a:t>
            </a:r>
            <a:r>
              <a:rPr lang="en-IN" b="1" dirty="0"/>
              <a:t>Generative AI, SQL, NoSQL, Vector DB, Semantic Search, and RAG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Gives </a:t>
            </a:r>
            <a:r>
              <a:rPr lang="en-IN" b="1" dirty="0"/>
              <a:t>accurate and context-based answers</a:t>
            </a:r>
            <a:r>
              <a:rPr lang="en-IN" dirty="0"/>
              <a:t> using trusted knowledge.</a:t>
            </a:r>
            <a:br>
              <a:rPr lang="en-IN" dirty="0"/>
            </a:br>
            <a:r>
              <a:rPr lang="en-IN" dirty="0"/>
              <a:t>- Uses </a:t>
            </a:r>
            <a:r>
              <a:rPr lang="en-IN" b="1" dirty="0"/>
              <a:t>REST APIs, Microservices, Kafka, Docker, and CI/CD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Makes the system </a:t>
            </a:r>
            <a:r>
              <a:rPr lang="en-IN" b="1" dirty="0"/>
              <a:t>scalable, reliable, and easy to maintain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Combines modern technologies to improve </a:t>
            </a:r>
            <a:r>
              <a:rPr lang="en-IN" b="1" dirty="0"/>
              <a:t>pharmaceutical information access</a:t>
            </a:r>
            <a:r>
              <a:rPr lang="en-IN" dirty="0"/>
              <a:t>.</a:t>
            </a:r>
            <a:br>
              <a:rPr lang="en-IN" dirty="0"/>
            </a:br>
            <a:r>
              <a:rPr lang="en-IN" b="1" dirty="0"/>
              <a:t>Future Scope – Simple Words</a:t>
            </a:r>
            <a:br>
              <a:rPr lang="en-IN" dirty="0"/>
            </a:br>
            <a:r>
              <a:rPr lang="en-IN" dirty="0"/>
              <a:t>- Use </a:t>
            </a:r>
            <a:r>
              <a:rPr lang="en-IN" b="1" dirty="0"/>
              <a:t>advanced medical AI models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Connect to </a:t>
            </a:r>
            <a:r>
              <a:rPr lang="en-IN" b="1" dirty="0"/>
              <a:t>real-time medicine and regulatory databases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Add </a:t>
            </a:r>
            <a:r>
              <a:rPr lang="en-IN" b="1" dirty="0"/>
              <a:t>voice-based interaction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Support </a:t>
            </a:r>
            <a:r>
              <a:rPr lang="en-IN" b="1" dirty="0"/>
              <a:t>multiple languages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Provide </a:t>
            </a:r>
            <a:r>
              <a:rPr lang="en-IN" b="1" dirty="0"/>
              <a:t>personalized medicine information</a:t>
            </a:r>
            <a:r>
              <a:rPr lang="en-IN" dirty="0"/>
              <a:t> safely.</a:t>
            </a:r>
            <a:br>
              <a:rPr lang="en-IN" dirty="0"/>
            </a:br>
            <a:r>
              <a:rPr lang="en-IN" dirty="0"/>
              <a:t>- Improve </a:t>
            </a:r>
            <a:r>
              <a:rPr lang="en-IN" b="1" dirty="0"/>
              <a:t>security and user access control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Deploy on the </a:t>
            </a:r>
            <a:r>
              <a:rPr lang="en-IN" b="1" dirty="0"/>
              <a:t>cloud with auto-scaling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Support </a:t>
            </a:r>
            <a:r>
              <a:rPr lang="en-IN" b="1" dirty="0"/>
              <a:t>doctors, pharmacists, researchers, and hospitals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- Continuously </a:t>
            </a:r>
            <a:r>
              <a:rPr lang="en-IN" b="1" dirty="0"/>
              <a:t>monitor and improve AI accuracy</a:t>
            </a:r>
            <a:r>
              <a:rPr lang="en-IN" dirty="0"/>
              <a:t>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8598</TotalTime>
  <Words>1473</Words>
  <Application>Microsoft Office PowerPoint</Application>
  <PresentationFormat>Widescreen</PresentationFormat>
  <Paragraphs>87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Generative AI Assistant and Knowledge base for pharmaceuticals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Anuradha Nandini Peddiraju</cp:lastModifiedBy>
  <cp:revision>97</cp:revision>
  <dcterms:created xsi:type="dcterms:W3CDTF">2022-05-20T10:20:31Z</dcterms:created>
  <dcterms:modified xsi:type="dcterms:W3CDTF">2026-08-18T06:39:30Z</dcterms:modified>
</cp:coreProperties>
</file>